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26" r:id="rId2"/>
    <p:sldId id="257" r:id="rId3"/>
    <p:sldId id="258" r:id="rId4"/>
    <p:sldId id="259" r:id="rId5"/>
    <p:sldId id="32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32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0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7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1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7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1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7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7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8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2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02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2971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722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17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3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8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5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1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00D5-724E-46DC-93CF-A690775C0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241" y="2920165"/>
            <a:ext cx="6108101" cy="838265"/>
          </a:xfrm>
        </p:spPr>
        <p:txBody>
          <a:bodyPr/>
          <a:lstStyle/>
          <a:p>
            <a:pPr algn="ctr"/>
            <a:r>
              <a:rPr lang="en-US" sz="2400" dirty="0"/>
              <a:t>Assessment of Competency Using Tools &amp; Ensuring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3F47A-BA67-4B9A-823F-CF4318096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2FE72-6CB5-40FC-99EE-7FC3C15FCB97}"/>
              </a:ext>
            </a:extLst>
          </p:cNvPr>
          <p:cNvSpPr txBox="1"/>
          <p:nvPr/>
        </p:nvSpPr>
        <p:spPr>
          <a:xfrm>
            <a:off x="3309731" y="4564546"/>
            <a:ext cx="3308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Dr. Sheikh Abu Reza</a:t>
            </a:r>
          </a:p>
          <a:p>
            <a:r>
              <a:rPr lang="en-US" dirty="0"/>
              <a:t>Former Director (P&amp;D), DTE &amp;</a:t>
            </a:r>
          </a:p>
          <a:p>
            <a:r>
              <a:rPr lang="en-US" dirty="0"/>
              <a:t>TVET Specialist, </a:t>
            </a:r>
            <a:r>
              <a:rPr lang="en-US" dirty="0" err="1"/>
              <a:t>Particip</a:t>
            </a:r>
            <a:r>
              <a:rPr lang="en-US" dirty="0"/>
              <a:t> GmbH, Germany</a:t>
            </a:r>
          </a:p>
        </p:txBody>
      </p:sp>
    </p:spTree>
    <p:extLst>
      <p:ext uri="{BB962C8B-B14F-4D97-AF65-F5344CB8AC3E}">
        <p14:creationId xmlns:p14="http://schemas.microsoft.com/office/powerpoint/2010/main" val="164743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" y="2651198"/>
            <a:ext cx="8039100" cy="3599316"/>
          </a:xfrm>
        </p:spPr>
        <p:txBody>
          <a:bodyPr>
            <a:noAutofit/>
          </a:bodyPr>
          <a:lstStyle/>
          <a:p>
            <a:r>
              <a:rPr sz="3200" dirty="0"/>
              <a:t>Competency-Based Training &amp; Assessment (CBT&amp;A) focuses on outcomes.</a:t>
            </a:r>
          </a:p>
          <a:p>
            <a:r>
              <a:rPr sz="3200" dirty="0"/>
              <a:t>Assessment ensures learners achieve required occupational standards.</a:t>
            </a:r>
          </a:p>
          <a:p>
            <a:r>
              <a:rPr sz="3200" dirty="0"/>
              <a:t>Quality assurance builds trust in the certification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Competency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413" y="2694060"/>
            <a:ext cx="7467600" cy="3599316"/>
          </a:xfrm>
        </p:spPr>
        <p:txBody>
          <a:bodyPr>
            <a:normAutofit/>
          </a:bodyPr>
          <a:lstStyle/>
          <a:p>
            <a:r>
              <a:rPr sz="3200" dirty="0"/>
              <a:t>Combination of knowledge, skills, and attitude.</a:t>
            </a:r>
          </a:p>
          <a:p>
            <a:r>
              <a:rPr sz="3200" dirty="0"/>
              <a:t>Demonstrated ability to perform job tasks to industry standards.</a:t>
            </a:r>
          </a:p>
          <a:p>
            <a:r>
              <a:rPr sz="3200" dirty="0"/>
              <a:t>Measured against National Competency Standards (NCS).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Competency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05456"/>
            <a:ext cx="7710488" cy="3599316"/>
          </a:xfrm>
        </p:spPr>
        <p:txBody>
          <a:bodyPr>
            <a:noAutofit/>
          </a:bodyPr>
          <a:lstStyle/>
          <a:p>
            <a:r>
              <a:rPr sz="3600" dirty="0"/>
              <a:t>Verify learner’s ability to perform tasks safely and effectively.</a:t>
            </a:r>
          </a:p>
          <a:p>
            <a:r>
              <a:rPr sz="3600" dirty="0"/>
              <a:t>Provide evidence for certification and employability.</a:t>
            </a:r>
          </a:p>
          <a:p>
            <a:r>
              <a:rPr sz="3600" dirty="0"/>
              <a:t>Ensure alignment with industry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BDA960E8-C15E-40BC-A3EF-96EF8B07C803}"/>
              </a:ext>
            </a:extLst>
          </p:cNvPr>
          <p:cNvSpPr/>
          <p:nvPr/>
        </p:nvSpPr>
        <p:spPr>
          <a:xfrm>
            <a:off x="3471240" y="2556049"/>
            <a:ext cx="2122007" cy="5905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A42EC-8A38-4101-916B-5E5439C9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611" y="927875"/>
            <a:ext cx="8289236" cy="417444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Organise</a:t>
            </a:r>
            <a:r>
              <a:rPr lang="en-US" b="1" dirty="0"/>
              <a:t> and Conduct Competency Based Assessment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B815E-D5F5-4DA9-92E0-CBDA04CAEA64}"/>
              </a:ext>
            </a:extLst>
          </p:cNvPr>
          <p:cNvSpPr txBox="1"/>
          <p:nvPr/>
        </p:nvSpPr>
        <p:spPr>
          <a:xfrm>
            <a:off x="8001000" y="5528641"/>
            <a:ext cx="7752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P-49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C5D45-9FBB-4DD6-A46E-3384DBA7CE23}"/>
              </a:ext>
            </a:extLst>
          </p:cNvPr>
          <p:cNvSpPr txBox="1"/>
          <p:nvPr/>
        </p:nvSpPr>
        <p:spPr>
          <a:xfrm>
            <a:off x="3807988" y="2678216"/>
            <a:ext cx="1579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ASSESSMENT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0E2B97-1758-4355-8901-1E60E3F28777}"/>
              </a:ext>
            </a:extLst>
          </p:cNvPr>
          <p:cNvSpPr/>
          <p:nvPr/>
        </p:nvSpPr>
        <p:spPr>
          <a:xfrm>
            <a:off x="1118151" y="3445961"/>
            <a:ext cx="1739348" cy="38514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B9670-39DC-4EB5-93EE-F6573225BAE6}"/>
              </a:ext>
            </a:extLst>
          </p:cNvPr>
          <p:cNvSpPr txBox="1"/>
          <p:nvPr/>
        </p:nvSpPr>
        <p:spPr>
          <a:xfrm>
            <a:off x="1130074" y="3465408"/>
            <a:ext cx="173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</a:t>
            </a:r>
            <a:r>
              <a:rPr lang="en-US" b="1" dirty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10F8E1-F4D6-4394-9920-58B206D09F4F}"/>
              </a:ext>
            </a:extLst>
          </p:cNvPr>
          <p:cNvSpPr/>
          <p:nvPr/>
        </p:nvSpPr>
        <p:spPr>
          <a:xfrm>
            <a:off x="6686058" y="3396973"/>
            <a:ext cx="2295941" cy="38514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BEC3F-59E3-4AA4-86FE-F90E9DEFA8DB}"/>
              </a:ext>
            </a:extLst>
          </p:cNvPr>
          <p:cNvSpPr txBox="1"/>
          <p:nvPr/>
        </p:nvSpPr>
        <p:spPr>
          <a:xfrm>
            <a:off x="6686058" y="3449704"/>
            <a:ext cx="253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MAKING JUDGEMENT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A43109-6695-4738-B262-FB5AFD1678E7}"/>
              </a:ext>
            </a:extLst>
          </p:cNvPr>
          <p:cNvGrpSpPr/>
          <p:nvPr/>
        </p:nvGrpSpPr>
        <p:grpSpPr>
          <a:xfrm>
            <a:off x="1103239" y="2117032"/>
            <a:ext cx="2410243" cy="408225"/>
            <a:chOff x="5294239" y="2896215"/>
            <a:chExt cx="3213657" cy="54429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15BD83-84F5-4CBA-97A7-251D9E298897}"/>
                </a:ext>
              </a:extLst>
            </p:cNvPr>
            <p:cNvSpPr/>
            <p:nvPr/>
          </p:nvSpPr>
          <p:spPr>
            <a:xfrm>
              <a:off x="5314122" y="2896215"/>
              <a:ext cx="3061252" cy="513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4D7B8D-74C7-4F7A-B96E-232EA857B85A}"/>
                </a:ext>
              </a:extLst>
            </p:cNvPr>
            <p:cNvSpPr txBox="1"/>
            <p:nvPr/>
          </p:nvSpPr>
          <p:spPr>
            <a:xfrm>
              <a:off x="5294239" y="2948072"/>
              <a:ext cx="3213657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PREPARE CANDIDATE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A747CF-6F33-4A3B-B944-847D136E9C7D}"/>
              </a:ext>
            </a:extLst>
          </p:cNvPr>
          <p:cNvGrpSpPr/>
          <p:nvPr/>
        </p:nvGrpSpPr>
        <p:grpSpPr>
          <a:xfrm>
            <a:off x="6142382" y="2103933"/>
            <a:ext cx="2305874" cy="452115"/>
            <a:chOff x="4949691" y="2915478"/>
            <a:chExt cx="3074498" cy="513522"/>
          </a:xfrm>
          <a:solidFill>
            <a:srgbClr val="FF0000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11C2F5-F81A-48B8-A278-B4E1EF9016C8}"/>
                </a:ext>
              </a:extLst>
            </p:cNvPr>
            <p:cNvSpPr/>
            <p:nvPr/>
          </p:nvSpPr>
          <p:spPr>
            <a:xfrm>
              <a:off x="4949691" y="2915478"/>
              <a:ext cx="3061252" cy="51352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74B24F-3E82-4CA4-9F74-44A35F3493EB}"/>
                </a:ext>
              </a:extLst>
            </p:cNvPr>
            <p:cNvSpPr txBox="1"/>
            <p:nvPr/>
          </p:nvSpPr>
          <p:spPr>
            <a:xfrm>
              <a:off x="4962934" y="2967334"/>
              <a:ext cx="3061255" cy="4194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PROVIDE FEEDBACK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012779-2EE9-410D-BD93-6FB4F3D6198B}"/>
              </a:ext>
            </a:extLst>
          </p:cNvPr>
          <p:cNvGrpSpPr/>
          <p:nvPr/>
        </p:nvGrpSpPr>
        <p:grpSpPr>
          <a:xfrm>
            <a:off x="6142384" y="1656483"/>
            <a:ext cx="2295940" cy="665072"/>
            <a:chOff x="4976194" y="2915478"/>
            <a:chExt cx="3061253" cy="92013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1724BE-2709-4D14-B5E0-AF8E46B30D61}"/>
                </a:ext>
              </a:extLst>
            </p:cNvPr>
            <p:cNvSpPr/>
            <p:nvPr/>
          </p:nvSpPr>
          <p:spPr>
            <a:xfrm>
              <a:off x="4976194" y="2915478"/>
              <a:ext cx="3061253" cy="51352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AE750C-29B0-4C9E-A1CC-32E92A2192F0}"/>
                </a:ext>
              </a:extLst>
            </p:cNvPr>
            <p:cNvSpPr txBox="1"/>
            <p:nvPr/>
          </p:nvSpPr>
          <p:spPr>
            <a:xfrm>
              <a:off x="5102085" y="2941406"/>
              <a:ext cx="2835965" cy="894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RECORD &amp; REPORT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F30E0B-CF05-4709-B310-A0CE2FA5A776}"/>
              </a:ext>
            </a:extLst>
          </p:cNvPr>
          <p:cNvGrpSpPr/>
          <p:nvPr/>
        </p:nvGrpSpPr>
        <p:grpSpPr>
          <a:xfrm>
            <a:off x="1118151" y="1667286"/>
            <a:ext cx="2295940" cy="393232"/>
            <a:chOff x="5526155" y="2915478"/>
            <a:chExt cx="2551040" cy="52430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E5126EA-BC32-4D2F-AED3-8F1CEB1DE30D}"/>
                </a:ext>
              </a:extLst>
            </p:cNvPr>
            <p:cNvSpPr/>
            <p:nvPr/>
          </p:nvSpPr>
          <p:spPr>
            <a:xfrm>
              <a:off x="5526155" y="2915478"/>
              <a:ext cx="2537791" cy="513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D9C606-C314-40D0-BC4C-1C28131D3993}"/>
                </a:ext>
              </a:extLst>
            </p:cNvPr>
            <p:cNvSpPr txBox="1"/>
            <p:nvPr/>
          </p:nvSpPr>
          <p:spPr>
            <a:xfrm>
              <a:off x="5539404" y="2947345"/>
              <a:ext cx="253779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PREPARE VENUE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749298C-A298-425A-84C2-9B45590B447A}"/>
              </a:ext>
            </a:extLst>
          </p:cNvPr>
          <p:cNvSpPr/>
          <p:nvPr/>
        </p:nvSpPr>
        <p:spPr>
          <a:xfrm>
            <a:off x="3429000" y="3426515"/>
            <a:ext cx="2206489" cy="38514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C223C9-E997-45A0-BBC0-4A79D3408EDC}"/>
              </a:ext>
            </a:extLst>
          </p:cNvPr>
          <p:cNvSpPr txBox="1"/>
          <p:nvPr/>
        </p:nvSpPr>
        <p:spPr>
          <a:xfrm>
            <a:off x="3471241" y="3445961"/>
            <a:ext cx="216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COLLECT EVIDECE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387C3D4-660E-4024-99F2-2FA838EF714E}"/>
              </a:ext>
            </a:extLst>
          </p:cNvPr>
          <p:cNvSpPr/>
          <p:nvPr/>
        </p:nvSpPr>
        <p:spPr>
          <a:xfrm rot="8969963">
            <a:off x="2399349" y="3025837"/>
            <a:ext cx="1159810" cy="349343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0F3A678-715B-4595-B24D-60EE6D1F6B52}"/>
              </a:ext>
            </a:extLst>
          </p:cNvPr>
          <p:cNvSpPr/>
          <p:nvPr/>
        </p:nvSpPr>
        <p:spPr>
          <a:xfrm>
            <a:off x="2857498" y="3500358"/>
            <a:ext cx="556592" cy="279759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BFE36C06-24A7-4BAD-A885-25923F6B58AF}"/>
              </a:ext>
            </a:extLst>
          </p:cNvPr>
          <p:cNvSpPr/>
          <p:nvPr/>
        </p:nvSpPr>
        <p:spPr>
          <a:xfrm>
            <a:off x="5659921" y="3513373"/>
            <a:ext cx="1026137" cy="247159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7059FC-E091-48D1-97A3-4FE951DB7372}"/>
              </a:ext>
            </a:extLst>
          </p:cNvPr>
          <p:cNvCxnSpPr>
            <a:cxnSpLocks/>
            <a:stCxn id="32" idx="7"/>
            <a:endCxn id="21" idx="1"/>
          </p:cNvCxnSpPr>
          <p:nvPr/>
        </p:nvCxnSpPr>
        <p:spPr>
          <a:xfrm flipV="1">
            <a:off x="5282486" y="2329991"/>
            <a:ext cx="859897" cy="3125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C1F3B2-809D-4945-A0AA-D5D2A358C6C8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991956" y="1842070"/>
            <a:ext cx="1150428" cy="730313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F6303A4-752C-4444-A7CC-39C14EC96947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3414091" y="1875852"/>
            <a:ext cx="638509" cy="71350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3DD36E-D400-4330-B0A2-E71ADA9F7646}"/>
              </a:ext>
            </a:extLst>
          </p:cNvPr>
          <p:cNvCxnSpPr>
            <a:cxnSpLocks/>
          </p:cNvCxnSpPr>
          <p:nvPr/>
        </p:nvCxnSpPr>
        <p:spPr>
          <a:xfrm flipH="1" flipV="1">
            <a:off x="3376822" y="2352817"/>
            <a:ext cx="446645" cy="272483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F5CF73FE-7F62-4109-8469-D71E69677584}"/>
              </a:ext>
            </a:extLst>
          </p:cNvPr>
          <p:cNvSpPr/>
          <p:nvPr/>
        </p:nvSpPr>
        <p:spPr>
          <a:xfrm rot="10800000">
            <a:off x="4041500" y="4338139"/>
            <a:ext cx="1023730" cy="65598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76A423-4C9C-43C6-B8CB-0BAC5EB4BBBC}"/>
              </a:ext>
            </a:extLst>
          </p:cNvPr>
          <p:cNvSpPr txBox="1"/>
          <p:nvPr/>
        </p:nvSpPr>
        <p:spPr>
          <a:xfrm>
            <a:off x="4239040" y="4907478"/>
            <a:ext cx="7951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WRITTEN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00B403-2516-4912-B387-4D54AA77E4A2}"/>
              </a:ext>
            </a:extLst>
          </p:cNvPr>
          <p:cNvSpPr txBox="1"/>
          <p:nvPr/>
        </p:nvSpPr>
        <p:spPr>
          <a:xfrm rot="19034704">
            <a:off x="3780692" y="4106688"/>
            <a:ext cx="7951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ORAL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DF085D-7C79-440B-85F0-5CEAFD1F9F51}"/>
              </a:ext>
            </a:extLst>
          </p:cNvPr>
          <p:cNvSpPr txBox="1"/>
          <p:nvPr/>
        </p:nvSpPr>
        <p:spPr>
          <a:xfrm rot="3062917">
            <a:off x="4157375" y="4411504"/>
            <a:ext cx="15566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DEMONSTRATION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D249C1-5900-4F5C-B03E-DEB018484053}"/>
              </a:ext>
            </a:extLst>
          </p:cNvPr>
          <p:cNvSpPr txBox="1"/>
          <p:nvPr/>
        </p:nvSpPr>
        <p:spPr>
          <a:xfrm>
            <a:off x="3121446" y="3891313"/>
            <a:ext cx="9200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  <a:highlight>
                  <a:srgbClr val="00FFFF"/>
                </a:highlight>
              </a:rPr>
              <a:t>DIRECT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A31504-B480-426C-B686-462100F1A970}"/>
              </a:ext>
            </a:extLst>
          </p:cNvPr>
          <p:cNvSpPr txBox="1"/>
          <p:nvPr/>
        </p:nvSpPr>
        <p:spPr>
          <a:xfrm>
            <a:off x="3121447" y="4877565"/>
            <a:ext cx="931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  <a:highlight>
                  <a:srgbClr val="00FFFF"/>
                </a:highlight>
              </a:rPr>
              <a:t>INDIRECT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8DF343-BE04-4E46-83EE-8EA624E6F84D}"/>
              </a:ext>
            </a:extLst>
          </p:cNvPr>
          <p:cNvSpPr txBox="1"/>
          <p:nvPr/>
        </p:nvSpPr>
        <p:spPr>
          <a:xfrm>
            <a:off x="5161258" y="3808637"/>
            <a:ext cx="1617497" cy="15927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350" b="1" u="sng" dirty="0">
                <a:solidFill>
                  <a:srgbClr val="FF0000"/>
                </a:solidFill>
              </a:rPr>
              <a:t>      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VALID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CURRENT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SUFFICIENT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CONSISTENT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AUTHENTIC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RECENT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2982635-A3B6-48C8-9CE4-04A6F8103BB0}"/>
              </a:ext>
            </a:extLst>
          </p:cNvPr>
          <p:cNvSpPr/>
          <p:nvPr/>
        </p:nvSpPr>
        <p:spPr>
          <a:xfrm>
            <a:off x="5334924" y="3829034"/>
            <a:ext cx="994132" cy="224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u="sng" dirty="0">
                <a:solidFill>
                  <a:srgbClr val="FF0000"/>
                </a:solidFill>
              </a:rPr>
              <a:t>VC’S CAR</a:t>
            </a:r>
            <a:endParaRPr lang="en-US" sz="1350" dirty="0"/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3D35AF63-2374-48B8-A89E-8BE90B10D71C}"/>
              </a:ext>
            </a:extLst>
          </p:cNvPr>
          <p:cNvSpPr/>
          <p:nvPr/>
        </p:nvSpPr>
        <p:spPr>
          <a:xfrm rot="2908087">
            <a:off x="3936683" y="3786137"/>
            <a:ext cx="342900" cy="480060"/>
          </a:xfrm>
          <a:prstGeom prst="leftBrace">
            <a:avLst>
              <a:gd name="adj1" fmla="val 8333"/>
              <a:gd name="adj2" fmla="val 41691"/>
            </a:avLst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E7B0F4B-F612-4810-93F0-FD1D450733A9}"/>
              </a:ext>
            </a:extLst>
          </p:cNvPr>
          <p:cNvCxnSpPr>
            <a:endCxn id="60" idx="1"/>
          </p:cNvCxnSpPr>
          <p:nvPr/>
        </p:nvCxnSpPr>
        <p:spPr>
          <a:xfrm flipV="1">
            <a:off x="3733345" y="3871374"/>
            <a:ext cx="290971" cy="154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2A0BC29-89BE-47A5-8851-89D85165E64F}"/>
              </a:ext>
            </a:extLst>
          </p:cNvPr>
          <p:cNvCxnSpPr>
            <a:cxnSpLocks/>
          </p:cNvCxnSpPr>
          <p:nvPr/>
        </p:nvCxnSpPr>
        <p:spPr>
          <a:xfrm flipV="1">
            <a:off x="3896085" y="5016064"/>
            <a:ext cx="407708" cy="6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8481894-E35D-49F5-A381-3CD702FF38D5}"/>
              </a:ext>
            </a:extLst>
          </p:cNvPr>
          <p:cNvSpPr txBox="1"/>
          <p:nvPr/>
        </p:nvSpPr>
        <p:spPr>
          <a:xfrm>
            <a:off x="4253242" y="4404116"/>
            <a:ext cx="69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EVENTS</a:t>
            </a:r>
          </a:p>
          <a:p>
            <a:r>
              <a:rPr lang="en-US" sz="900" b="1" dirty="0"/>
              <a:t>METHODS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96B2A1-9C4B-4AEC-9446-8FC983723F65}"/>
              </a:ext>
            </a:extLst>
          </p:cNvPr>
          <p:cNvSpPr txBox="1"/>
          <p:nvPr/>
        </p:nvSpPr>
        <p:spPr>
          <a:xfrm>
            <a:off x="6934241" y="4638963"/>
            <a:ext cx="874319" cy="5078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    </a:t>
            </a:r>
            <a:r>
              <a:rPr lang="en-US" sz="1350" b="1" dirty="0">
                <a:solidFill>
                  <a:schemeClr val="bg1"/>
                </a:solidFill>
              </a:rPr>
              <a:t>C</a:t>
            </a:r>
            <a:r>
              <a:rPr lang="en-US" sz="1350" b="1" dirty="0"/>
              <a:t> </a:t>
            </a:r>
            <a:r>
              <a:rPr lang="en-US" sz="1350" b="1" dirty="0">
                <a:solidFill>
                  <a:schemeClr val="bg1"/>
                </a:solidFill>
              </a:rPr>
              <a:t>(NC)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FB5015-C644-4DD9-BFFF-A0B26A3B9CC3}"/>
              </a:ext>
            </a:extLst>
          </p:cNvPr>
          <p:cNvSpPr txBox="1"/>
          <p:nvPr/>
        </p:nvSpPr>
        <p:spPr>
          <a:xfrm>
            <a:off x="7886998" y="4638963"/>
            <a:ext cx="889255" cy="5078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 </a:t>
            </a:r>
            <a:r>
              <a:rPr lang="en-US" sz="1350" b="1" dirty="0">
                <a:solidFill>
                  <a:schemeClr val="bg1"/>
                </a:solidFill>
              </a:rPr>
              <a:t>NYC/</a:t>
            </a:r>
            <a:r>
              <a:rPr lang="en-US" sz="1350" b="1" dirty="0" err="1">
                <a:solidFill>
                  <a:schemeClr val="bg1"/>
                </a:solidFill>
              </a:rPr>
              <a:t>SoA</a:t>
            </a:r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892D30-C3EA-4F75-8BBF-083BE5531F40}"/>
              </a:ext>
            </a:extLst>
          </p:cNvPr>
          <p:cNvSpPr txBox="1"/>
          <p:nvPr/>
        </p:nvSpPr>
        <p:spPr>
          <a:xfrm rot="16200000">
            <a:off x="5789589" y="4443992"/>
            <a:ext cx="1544456" cy="300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</a:rPr>
              <a:t> EVIDECE  RULES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C18382-4D1F-4BE8-BCBA-653739B930E3}"/>
              </a:ext>
            </a:extLst>
          </p:cNvPr>
          <p:cNvSpPr txBox="1"/>
          <p:nvPr/>
        </p:nvSpPr>
        <p:spPr>
          <a:xfrm>
            <a:off x="8257258" y="5154835"/>
            <a:ext cx="775253" cy="5078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350" b="1" i="1" dirty="0">
                <a:solidFill>
                  <a:schemeClr val="bg1"/>
                </a:solidFill>
              </a:rPr>
              <a:t>APPEAL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8BE8F6D9-394D-40B5-86FD-4D9BC15A5DEC}"/>
              </a:ext>
            </a:extLst>
          </p:cNvPr>
          <p:cNvSpPr/>
          <p:nvPr/>
        </p:nvSpPr>
        <p:spPr>
          <a:xfrm rot="3503572">
            <a:off x="7884197" y="4415838"/>
            <a:ext cx="405514" cy="120734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C2413FFB-2930-409F-AC45-7A55727D4E19}"/>
              </a:ext>
            </a:extLst>
          </p:cNvPr>
          <p:cNvSpPr/>
          <p:nvPr/>
        </p:nvSpPr>
        <p:spPr>
          <a:xfrm rot="3609227">
            <a:off x="8250126" y="4974901"/>
            <a:ext cx="276999" cy="14220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26" name="Picture 2" descr="Better Than Popeyes: Grilled Chicken Sandwich Recipe">
            <a:extLst>
              <a:ext uri="{FF2B5EF4-FFF2-40B4-BE49-F238E27FC236}">
                <a16:creationId xmlns:a16="http://schemas.microsoft.com/office/drawing/2014/main" id="{D9803AA5-D487-4ECB-A3F7-F7AB9B6D2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211" y="2477590"/>
            <a:ext cx="1073495" cy="66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Arrow: Right 78">
            <a:extLst>
              <a:ext uri="{FF2B5EF4-FFF2-40B4-BE49-F238E27FC236}">
                <a16:creationId xmlns:a16="http://schemas.microsoft.com/office/drawing/2014/main" id="{9E13EC80-06A9-40C5-8C12-090582CE3C73}"/>
              </a:ext>
            </a:extLst>
          </p:cNvPr>
          <p:cNvSpPr/>
          <p:nvPr/>
        </p:nvSpPr>
        <p:spPr>
          <a:xfrm rot="7099797">
            <a:off x="7945252" y="4971533"/>
            <a:ext cx="276999" cy="14220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863C2F-4BCA-49D4-B7A5-6347D0028D97}"/>
              </a:ext>
            </a:extLst>
          </p:cNvPr>
          <p:cNvSpPr txBox="1"/>
          <p:nvPr/>
        </p:nvSpPr>
        <p:spPr>
          <a:xfrm>
            <a:off x="6845204" y="5182776"/>
            <a:ext cx="1333616" cy="3000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bg1"/>
                </a:solidFill>
              </a:rPr>
              <a:t>REASSESMENT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43DC27-D453-463B-A7A8-8E164C95D2F5}"/>
              </a:ext>
            </a:extLst>
          </p:cNvPr>
          <p:cNvSpPr txBox="1"/>
          <p:nvPr/>
        </p:nvSpPr>
        <p:spPr>
          <a:xfrm>
            <a:off x="3772996" y="5198287"/>
            <a:ext cx="1216169" cy="30008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350" dirty="0"/>
              <a:t>     </a:t>
            </a:r>
            <a:r>
              <a:rPr lang="en-US" sz="1350" dirty="0">
                <a:solidFill>
                  <a:schemeClr val="bg1"/>
                </a:solidFill>
              </a:rPr>
              <a:t>ERROR’S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02ECF4-FFC7-4A66-865B-2CA60949E009}"/>
              </a:ext>
            </a:extLst>
          </p:cNvPr>
          <p:cNvSpPr txBox="1"/>
          <p:nvPr/>
        </p:nvSpPr>
        <p:spPr>
          <a:xfrm>
            <a:off x="3135794" y="5673424"/>
            <a:ext cx="1056737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HALO EFFECT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7533D9-846E-401E-AFD7-2EA4B0E84E03}"/>
              </a:ext>
            </a:extLst>
          </p:cNvPr>
          <p:cNvSpPr txBox="1"/>
          <p:nvPr/>
        </p:nvSpPr>
        <p:spPr>
          <a:xfrm>
            <a:off x="4578753" y="5670236"/>
            <a:ext cx="1056736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HORN EFFECT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AC6995-692E-44EF-A279-3C69B16FF08E}"/>
              </a:ext>
            </a:extLst>
          </p:cNvPr>
          <p:cNvCxnSpPr/>
          <p:nvPr/>
        </p:nvCxnSpPr>
        <p:spPr>
          <a:xfrm flipH="1">
            <a:off x="3878830" y="5475287"/>
            <a:ext cx="360210" cy="198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9E67CF-B3A1-4ED3-B9EB-8354180E195A}"/>
              </a:ext>
            </a:extLst>
          </p:cNvPr>
          <p:cNvCxnSpPr>
            <a:cxnSpLocks/>
          </p:cNvCxnSpPr>
          <p:nvPr/>
        </p:nvCxnSpPr>
        <p:spPr>
          <a:xfrm>
            <a:off x="4433347" y="5475286"/>
            <a:ext cx="339713" cy="175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2DAE249-1F9A-4BA4-9572-DB8D7B25265A}"/>
              </a:ext>
            </a:extLst>
          </p:cNvPr>
          <p:cNvSpPr txBox="1"/>
          <p:nvPr/>
        </p:nvSpPr>
        <p:spPr>
          <a:xfrm>
            <a:off x="1029162" y="4127116"/>
            <a:ext cx="17661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US" sz="1350" b="1" dirty="0">
                <a:solidFill>
                  <a:srgbClr val="FF0000"/>
                </a:solidFill>
              </a:rPr>
              <a:t>VALID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b="1" dirty="0">
                <a:solidFill>
                  <a:srgbClr val="FF0000"/>
                </a:solidFill>
              </a:rPr>
              <a:t>FLEXIBLE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b="1" dirty="0">
                <a:solidFill>
                  <a:srgbClr val="FF0000"/>
                </a:solidFill>
              </a:rPr>
              <a:t>RELIABLE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b="1" dirty="0">
                <a:solidFill>
                  <a:srgbClr val="FF0000"/>
                </a:solidFill>
              </a:rPr>
              <a:t>FAIR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DE6912-7FBE-418B-8923-3B3749A5F756}"/>
              </a:ext>
            </a:extLst>
          </p:cNvPr>
          <p:cNvSpPr txBox="1"/>
          <p:nvPr/>
        </p:nvSpPr>
        <p:spPr>
          <a:xfrm rot="16200000">
            <a:off x="2090815" y="4323325"/>
            <a:ext cx="1079345" cy="507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bg1"/>
                </a:solidFill>
              </a:rPr>
              <a:t>PRINCIPLES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5783FC4-190E-4212-8B32-4817915F6669}"/>
              </a:ext>
            </a:extLst>
          </p:cNvPr>
          <p:cNvSpPr txBox="1"/>
          <p:nvPr/>
        </p:nvSpPr>
        <p:spPr>
          <a:xfrm>
            <a:off x="7174957" y="4024867"/>
            <a:ext cx="1256690" cy="5078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350" dirty="0"/>
              <a:t> </a:t>
            </a:r>
            <a:r>
              <a:rPr lang="en-US" sz="1350" dirty="0">
                <a:solidFill>
                  <a:schemeClr val="bg1"/>
                </a:solidFill>
              </a:rPr>
              <a:t>REVIEW/CARS</a:t>
            </a:r>
          </a:p>
        </p:txBody>
      </p:sp>
      <p:sp>
        <p:nvSpPr>
          <p:cNvPr id="141" name="Arrow: Right 140">
            <a:extLst>
              <a:ext uri="{FF2B5EF4-FFF2-40B4-BE49-F238E27FC236}">
                <a16:creationId xmlns:a16="http://schemas.microsoft.com/office/drawing/2014/main" id="{90C70723-DB9E-4B58-932E-EDEC4FF2D138}"/>
              </a:ext>
            </a:extLst>
          </p:cNvPr>
          <p:cNvSpPr/>
          <p:nvPr/>
        </p:nvSpPr>
        <p:spPr>
          <a:xfrm rot="5400000">
            <a:off x="7587988" y="3816772"/>
            <a:ext cx="307145" cy="14908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2" name="Arrow: Right 141">
            <a:extLst>
              <a:ext uri="{FF2B5EF4-FFF2-40B4-BE49-F238E27FC236}">
                <a16:creationId xmlns:a16="http://schemas.microsoft.com/office/drawing/2014/main" id="{95D3B061-E73F-45C9-B615-F6CB024F78D2}"/>
              </a:ext>
            </a:extLst>
          </p:cNvPr>
          <p:cNvSpPr/>
          <p:nvPr/>
        </p:nvSpPr>
        <p:spPr>
          <a:xfrm rot="8027200">
            <a:off x="7218238" y="4406808"/>
            <a:ext cx="485250" cy="13290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335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8" grpId="0"/>
      <p:bldP spid="13" grpId="0"/>
      <p:bldP spid="16" grpId="0"/>
      <p:bldP spid="31" grpId="0"/>
      <p:bldP spid="33" grpId="0" animBg="1"/>
      <p:bldP spid="34" grpId="0" animBg="1"/>
      <p:bldP spid="35" grpId="0" animBg="1"/>
      <p:bldP spid="51" grpId="0" animBg="1"/>
      <p:bldP spid="52" grpId="0"/>
      <p:bldP spid="53" grpId="0"/>
      <p:bldP spid="54" grpId="0"/>
      <p:bldP spid="55" grpId="0"/>
      <p:bldP spid="56" grpId="0"/>
      <p:bldP spid="57" grpId="0" animBg="1"/>
      <p:bldP spid="58" grpId="0" animBg="1"/>
      <p:bldP spid="60" grpId="0" animBg="1"/>
      <p:bldP spid="68" grpId="0"/>
      <p:bldP spid="70" grpId="0" animBg="1"/>
      <p:bldP spid="71" grpId="0" animBg="1"/>
      <p:bldP spid="72" grpId="0" animBg="1"/>
      <p:bldP spid="73" grpId="0" animBg="1"/>
      <p:bldP spid="76" grpId="0" animBg="1"/>
      <p:bldP spid="77" grpId="0" animBg="1"/>
      <p:bldP spid="79" grpId="0" animBg="1"/>
      <p:bldP spid="81" grpId="0" animBg="1"/>
      <p:bldP spid="61" grpId="0" animBg="1"/>
      <p:bldP spid="63" grpId="0" animBg="1"/>
      <p:bldP spid="65" grpId="0" animBg="1"/>
      <p:bldP spid="83" grpId="0" animBg="1"/>
      <p:bldP spid="84" grpId="0" animBg="1"/>
      <p:bldP spid="140" grpId="0" animBg="1"/>
      <p:bldP spid="141" grpId="0" animBg="1"/>
      <p:bldP spid="1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Principles of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336873"/>
            <a:ext cx="8826674" cy="3599316"/>
          </a:xfrm>
        </p:spPr>
        <p:txBody>
          <a:bodyPr>
            <a:noAutofit/>
          </a:bodyPr>
          <a:lstStyle/>
          <a:p>
            <a:r>
              <a:rPr sz="3200" dirty="0"/>
              <a:t>Validity – measures what it intends to measure.</a:t>
            </a:r>
          </a:p>
          <a:p>
            <a:r>
              <a:rPr sz="3200" dirty="0"/>
              <a:t>Reliability – consistent results across assessors and time.</a:t>
            </a:r>
          </a:p>
          <a:p>
            <a:r>
              <a:rPr sz="3200" dirty="0"/>
              <a:t>Fairness – unbiased and transparent process.</a:t>
            </a:r>
            <a:endParaRPr lang="en-US" sz="3200" dirty="0"/>
          </a:p>
          <a:p>
            <a:r>
              <a:rPr sz="3200" dirty="0"/>
              <a:t>Flexibility – adaptable to learner and workplace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Context in Bangladesh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31" y="2613479"/>
            <a:ext cx="7881938" cy="3599316"/>
          </a:xfrm>
        </p:spPr>
        <p:txBody>
          <a:bodyPr>
            <a:normAutofit/>
          </a:bodyPr>
          <a:lstStyle/>
          <a:p>
            <a:r>
              <a:rPr sz="3200" dirty="0"/>
              <a:t>Governed by BTEB &amp; NSDA under NTVQF framework.</a:t>
            </a:r>
          </a:p>
          <a:p>
            <a:r>
              <a:rPr sz="3200" dirty="0"/>
              <a:t>CBT&amp;A system integrated into TVET reforms since 2012.</a:t>
            </a:r>
          </a:p>
          <a:p>
            <a:r>
              <a:rPr sz="3200" dirty="0"/>
              <a:t>Competency-based assessment centers established nationwide.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2679773"/>
            <a:ext cx="7781925" cy="3599316"/>
          </a:xfrm>
        </p:spPr>
        <p:txBody>
          <a:bodyPr>
            <a:normAutofit/>
          </a:bodyPr>
          <a:lstStyle/>
          <a:p>
            <a:r>
              <a:rPr sz="3200" dirty="0"/>
              <a:t>Formative Assessment – during training; for learning improvement.</a:t>
            </a:r>
          </a:p>
          <a:p>
            <a:r>
              <a:rPr sz="3200" dirty="0"/>
              <a:t>Summative Assessment – at the end of training; for certification.</a:t>
            </a:r>
          </a:p>
          <a:p>
            <a:r>
              <a:rPr sz="3200" dirty="0"/>
              <a:t>Recognition of Prior Learning (RPL) – assessment of prior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2742066"/>
            <a:ext cx="8610600" cy="3599316"/>
          </a:xfrm>
        </p:spPr>
        <p:txBody>
          <a:bodyPr>
            <a:normAutofit/>
          </a:bodyPr>
          <a:lstStyle/>
          <a:p>
            <a:r>
              <a:rPr sz="3200" dirty="0"/>
              <a:t>Observation checklists.</a:t>
            </a:r>
          </a:p>
          <a:p>
            <a:r>
              <a:rPr sz="3200" dirty="0"/>
              <a:t>Written or oral tests.</a:t>
            </a:r>
          </a:p>
          <a:p>
            <a:r>
              <a:rPr sz="3200" dirty="0"/>
              <a:t>Product evaluation sheets.</a:t>
            </a:r>
          </a:p>
          <a:p>
            <a:r>
              <a:rPr sz="3200" dirty="0"/>
              <a:t>Performance checklist / task demonstration.</a:t>
            </a:r>
          </a:p>
          <a:p>
            <a:r>
              <a:rPr sz="3200" dirty="0"/>
              <a:t>Portfolio or logbook of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Good Assessment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079823"/>
            <a:ext cx="8296275" cy="3599316"/>
          </a:xfrm>
        </p:spPr>
        <p:txBody>
          <a:bodyPr>
            <a:normAutofit/>
          </a:bodyPr>
          <a:lstStyle/>
          <a:p>
            <a:r>
              <a:rPr sz="3200" dirty="0"/>
              <a:t>Clear performance criteria.</a:t>
            </a:r>
          </a:p>
          <a:p>
            <a:r>
              <a:rPr sz="3200" dirty="0"/>
              <a:t>Simple and easy to use.</a:t>
            </a:r>
          </a:p>
          <a:p>
            <a:r>
              <a:rPr sz="3200" dirty="0"/>
              <a:t>Objective and measurable outcomes.</a:t>
            </a:r>
          </a:p>
          <a:p>
            <a:r>
              <a:rPr sz="3200" dirty="0"/>
              <a:t>Aligned with Competency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Assessment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708348"/>
            <a:ext cx="7953375" cy="3599316"/>
          </a:xfrm>
        </p:spPr>
        <p:txBody>
          <a:bodyPr>
            <a:normAutofit/>
          </a:bodyPr>
          <a:lstStyle/>
          <a:p>
            <a:r>
              <a:rPr sz="3200" dirty="0"/>
              <a:t>Identify unit of competency.</a:t>
            </a:r>
          </a:p>
          <a:p>
            <a:r>
              <a:rPr sz="3200" dirty="0"/>
              <a:t>Define evidence requirements.</a:t>
            </a:r>
          </a:p>
          <a:p>
            <a:r>
              <a:rPr sz="3200" dirty="0"/>
              <a:t>Select appropriate methods.</a:t>
            </a:r>
          </a:p>
          <a:p>
            <a:r>
              <a:rPr sz="3200" dirty="0"/>
              <a:t>Design tools and instruments.</a:t>
            </a:r>
          </a:p>
          <a:p>
            <a:r>
              <a:rPr sz="3200" dirty="0"/>
              <a:t>Pilot test and refine.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Assessor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951235"/>
            <a:ext cx="8498061" cy="3599316"/>
          </a:xfrm>
        </p:spPr>
        <p:txBody>
          <a:bodyPr>
            <a:normAutofit/>
          </a:bodyPr>
          <a:lstStyle/>
          <a:p>
            <a:r>
              <a:rPr sz="3200" dirty="0"/>
              <a:t>Plan, organize, and conduct assessment.</a:t>
            </a:r>
          </a:p>
          <a:p>
            <a:r>
              <a:rPr sz="3200" dirty="0"/>
              <a:t>Collect valid and sufficient evidence.</a:t>
            </a:r>
          </a:p>
          <a:p>
            <a:r>
              <a:rPr sz="3200" dirty="0"/>
              <a:t>Provide feedback to candidates.</a:t>
            </a:r>
          </a:p>
          <a:p>
            <a:r>
              <a:rPr sz="3200" dirty="0"/>
              <a:t>Maintain impartiality and confidentiality.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Collection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936948"/>
            <a:ext cx="7853363" cy="3599316"/>
          </a:xfrm>
        </p:spPr>
        <p:txBody>
          <a:bodyPr>
            <a:normAutofit/>
          </a:bodyPr>
          <a:lstStyle/>
          <a:p>
            <a:r>
              <a:rPr sz="3200" dirty="0"/>
              <a:t>Direct observation of performance.</a:t>
            </a:r>
          </a:p>
          <a:p>
            <a:r>
              <a:rPr sz="3200" dirty="0"/>
              <a:t>Questioning to confirm understanding.</a:t>
            </a:r>
          </a:p>
          <a:p>
            <a:r>
              <a:rPr sz="3200" dirty="0"/>
              <a:t>Reviewing work samples and portfolios.</a:t>
            </a:r>
          </a:p>
          <a:p>
            <a:r>
              <a:rPr sz="3200" dirty="0"/>
              <a:t>Third-party reports from supervisors.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Ensuring Quality in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2908373"/>
            <a:ext cx="8439150" cy="3599316"/>
          </a:xfrm>
        </p:spPr>
        <p:txBody>
          <a:bodyPr>
            <a:noAutofit/>
          </a:bodyPr>
          <a:lstStyle/>
          <a:p>
            <a:r>
              <a:rPr sz="3200" dirty="0"/>
              <a:t>Follow standardized assessment guidelines.</a:t>
            </a:r>
          </a:p>
          <a:p>
            <a:r>
              <a:rPr sz="3200" dirty="0"/>
              <a:t>Use qualified assessors (NSDA certified).</a:t>
            </a:r>
          </a:p>
          <a:p>
            <a:r>
              <a:rPr sz="3200" dirty="0"/>
              <a:t>Regular monitoring and moderation.</a:t>
            </a:r>
          </a:p>
          <a:p>
            <a:r>
              <a:rPr sz="3200" dirty="0"/>
              <a:t>Maintain documentation and records.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779786"/>
            <a:ext cx="8339138" cy="3599316"/>
          </a:xfrm>
        </p:spPr>
        <p:txBody>
          <a:bodyPr>
            <a:normAutofit/>
          </a:bodyPr>
          <a:lstStyle/>
          <a:p>
            <a:r>
              <a:rPr sz="3200" dirty="0"/>
              <a:t>Moderation ensures consistency across assessors.</a:t>
            </a:r>
          </a:p>
          <a:p>
            <a:r>
              <a:rPr sz="3200" dirty="0"/>
              <a:t>Validation checks tools and processes for accuracy and relevance.</a:t>
            </a:r>
          </a:p>
          <a:p>
            <a:r>
              <a:rPr sz="3200" dirty="0"/>
              <a:t>Conducted by BTEB/NSDA or external quality bodies.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3079823"/>
            <a:ext cx="8610600" cy="3599316"/>
          </a:xfrm>
        </p:spPr>
        <p:txBody>
          <a:bodyPr>
            <a:normAutofit/>
          </a:bodyPr>
          <a:lstStyle/>
          <a:p>
            <a:r>
              <a:rPr sz="3200" dirty="0"/>
              <a:t>Institutional self-assessment of procedures.</a:t>
            </a:r>
          </a:p>
          <a:p>
            <a:r>
              <a:rPr sz="3200" dirty="0"/>
              <a:t>Continuous improvement cycle (Plan–Do–Check–Act).</a:t>
            </a:r>
          </a:p>
          <a:p>
            <a:r>
              <a:rPr sz="3200" dirty="0"/>
              <a:t>Feedback from trainees and industry.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822648"/>
            <a:ext cx="8081963" cy="3599316"/>
          </a:xfrm>
        </p:spPr>
        <p:txBody>
          <a:bodyPr>
            <a:normAutofit/>
          </a:bodyPr>
          <a:lstStyle/>
          <a:p>
            <a:r>
              <a:rPr sz="3200" dirty="0"/>
              <a:t>National Skills Development Authority (NSDA) oversight.</a:t>
            </a:r>
          </a:p>
          <a:p>
            <a:r>
              <a:rPr sz="3200" dirty="0"/>
              <a:t>BTEB’s assessment monitoring system.</a:t>
            </a:r>
          </a:p>
          <a:p>
            <a:r>
              <a:rPr sz="3200" dirty="0"/>
              <a:t>Accreditation audits and compliance checks.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Challenges in Bangladesh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813" y="2936948"/>
            <a:ext cx="8610600" cy="3599316"/>
          </a:xfrm>
        </p:spPr>
        <p:txBody>
          <a:bodyPr>
            <a:normAutofit/>
          </a:bodyPr>
          <a:lstStyle/>
          <a:p>
            <a:r>
              <a:rPr sz="3200" dirty="0"/>
              <a:t>Limited trained assessors and verifiers.</a:t>
            </a:r>
          </a:p>
          <a:p>
            <a:r>
              <a:rPr sz="3200" dirty="0"/>
              <a:t>Inconsistent assessment practices.</a:t>
            </a:r>
          </a:p>
          <a:p>
            <a:r>
              <a:rPr sz="3200" dirty="0"/>
              <a:t>Resource and equipment shortages.</a:t>
            </a:r>
          </a:p>
          <a:p>
            <a:r>
              <a:rPr sz="3200" dirty="0"/>
              <a:t>Weak industry linkage and feedback 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665485"/>
            <a:ext cx="8181975" cy="3599316"/>
          </a:xfrm>
        </p:spPr>
        <p:txBody>
          <a:bodyPr>
            <a:normAutofit/>
          </a:bodyPr>
          <a:lstStyle/>
          <a:p>
            <a:r>
              <a:rPr sz="3200" dirty="0"/>
              <a:t>Continuous capacity building of assessors.</a:t>
            </a:r>
          </a:p>
          <a:p>
            <a:r>
              <a:rPr sz="3200" dirty="0"/>
              <a:t>Digital assessment and e-portfolio systems.</a:t>
            </a:r>
          </a:p>
          <a:p>
            <a:r>
              <a:rPr sz="3200" dirty="0"/>
              <a:t>Strengthen industry partnerships.</a:t>
            </a:r>
          </a:p>
          <a:p>
            <a:r>
              <a:rPr sz="3200" dirty="0"/>
              <a:t>Regular tool revision and validation workshops.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691193"/>
            <a:ext cx="8139113" cy="3599316"/>
          </a:xfrm>
        </p:spPr>
        <p:txBody>
          <a:bodyPr>
            <a:normAutofit/>
          </a:bodyPr>
          <a:lstStyle/>
          <a:p>
            <a:r>
              <a:rPr sz="3200" dirty="0"/>
              <a:t>Reliable and credible certification.</a:t>
            </a:r>
          </a:p>
          <a:p>
            <a:r>
              <a:rPr sz="3200" dirty="0"/>
              <a:t>Industry-ready graduates with proven competencies.</a:t>
            </a:r>
          </a:p>
          <a:p>
            <a:r>
              <a:rPr sz="3200" dirty="0"/>
              <a:t>Increased employability and productivity.</a:t>
            </a:r>
          </a:p>
          <a:p>
            <a:r>
              <a:rPr sz="3200" dirty="0"/>
              <a:t>Strengthened TVET quality assurance framework.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2527754"/>
            <a:ext cx="8153400" cy="3599316"/>
          </a:xfrm>
        </p:spPr>
        <p:txBody>
          <a:bodyPr>
            <a:normAutofit/>
          </a:bodyPr>
          <a:lstStyle/>
          <a:p>
            <a:r>
              <a:rPr sz="3200" dirty="0"/>
              <a:t>Competency assessment ensures quality learning outcomes.</a:t>
            </a:r>
          </a:p>
          <a:p>
            <a:r>
              <a:rPr sz="3200" dirty="0"/>
              <a:t>Assessment tools must be valid, reliable, and transparent.</a:t>
            </a:r>
          </a:p>
          <a:p>
            <a:r>
              <a:rPr sz="3200" dirty="0"/>
              <a:t>Continuous quality improvement is vital for Bangladesh’s TVET success.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9A95-58CA-4AFF-BC93-1BD51C6A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Best Wishes to All</a:t>
            </a:r>
          </a:p>
        </p:txBody>
      </p:sp>
      <p:pic>
        <p:nvPicPr>
          <p:cNvPr id="1026" name="Picture 2" descr="1,273 Thanks Emoji Stock Photos, Pictures &amp; Royalty-Free Images - iStock">
            <a:extLst>
              <a:ext uri="{FF2B5EF4-FFF2-40B4-BE49-F238E27FC236}">
                <a16:creationId xmlns:a16="http://schemas.microsoft.com/office/drawing/2014/main" id="{5E55BAC9-BBA9-46EA-A45C-80FA8C5335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470" y="2596572"/>
            <a:ext cx="3041375" cy="304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6337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629</TotalTime>
  <Words>634</Words>
  <Application>Microsoft Office PowerPoint</Application>
  <PresentationFormat>On-screen Show (4:3)</PresentationFormat>
  <Paragraphs>134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Trebuchet MS</vt:lpstr>
      <vt:lpstr>Berlin</vt:lpstr>
      <vt:lpstr>Assessment of Competency Using Tools &amp; Ensuring Quality</vt:lpstr>
      <vt:lpstr>Introduction</vt:lpstr>
      <vt:lpstr>Meaning of Competency</vt:lpstr>
      <vt:lpstr>Purpose of Competency Assessment</vt:lpstr>
      <vt:lpstr>Organise and Conduct Competency Based Assessment</vt:lpstr>
      <vt:lpstr>Key Principles of Assessment</vt:lpstr>
      <vt:lpstr>Assessment Context in Bangladesh</vt:lpstr>
      <vt:lpstr>Types of Assessment</vt:lpstr>
      <vt:lpstr>Assessment Tools</vt:lpstr>
      <vt:lpstr>Features of Good Assessment Tools</vt:lpstr>
      <vt:lpstr>Developing Assessment Tools</vt:lpstr>
      <vt:lpstr>Role of the Assessor</vt:lpstr>
      <vt:lpstr>Evidence Collection Methods</vt:lpstr>
      <vt:lpstr>Ensuring Quality in Assessment</vt:lpstr>
      <vt:lpstr>Moderation and Validation</vt:lpstr>
      <vt:lpstr>Internal Quality Assurance</vt:lpstr>
      <vt:lpstr>External Quality Assurance</vt:lpstr>
      <vt:lpstr>Common Challenges in Bangladesh</vt:lpstr>
      <vt:lpstr>Strategies for Improvement</vt:lpstr>
      <vt:lpstr>Expected Outcomes</vt:lpstr>
      <vt:lpstr>Conclusion</vt:lpstr>
      <vt:lpstr>Best Wishes to All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REZA</cp:lastModifiedBy>
  <cp:revision>20</cp:revision>
  <dcterms:created xsi:type="dcterms:W3CDTF">2013-01-27T09:14:16Z</dcterms:created>
  <dcterms:modified xsi:type="dcterms:W3CDTF">2025-11-10T00:42:10Z</dcterms:modified>
  <cp:category/>
</cp:coreProperties>
</file>